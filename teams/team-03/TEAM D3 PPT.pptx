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61" r:id="rId6"/>
    <p:sldId id="262" r:id="rId7"/>
    <p:sldId id="263" r:id="rId8"/>
    <p:sldId id="266" r:id="rId9"/>
    <p:sldId id="273" r:id="rId10"/>
  </p:sldIdLst>
  <p:sldSz cx="18288000" cy="10287000"/>
  <p:notesSz cx="6858000" cy="9144000"/>
  <p:embeddedFontLst>
    <p:embeddedFont>
      <p:font typeface="Cy Grotesk Wide Bold" panose="020B0604020202020204" charset="0"/>
      <p:regular r:id="rId11"/>
    </p:embeddedFont>
    <p:embeddedFont>
      <p:font typeface="Open Sauce Bold" panose="020B0604020202020204" charset="0"/>
      <p:regular r:id="rId12"/>
    </p:embeddedFont>
    <p:embeddedFont>
      <p:font typeface="Open Sauce Heavy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-24939"/>
            <a:ext cx="18288000" cy="230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47"/>
              </a:lnSpc>
              <a:spcBef>
                <a:spcPct val="0"/>
              </a:spcBef>
            </a:pPr>
            <a:r>
              <a:rPr lang="en-US" sz="14390" b="1" spc="402" dirty="0">
                <a:solidFill>
                  <a:schemeClr val="accent2">
                    <a:lumMod val="75000"/>
                  </a:schemeClr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PASHUMITRA </a:t>
            </a:r>
            <a:r>
              <a:rPr lang="en-US" sz="14390" b="1" spc="402" dirty="0">
                <a:solidFill>
                  <a:schemeClr val="accent3">
                    <a:lumMod val="75000"/>
                  </a:schemeClr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600" y="7429500"/>
            <a:ext cx="4152900" cy="2506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en-US" sz="2800" b="1" dirty="0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PAVAN NAGESH | SANJANA SHETTI | RAKSHITA G | </a:t>
            </a:r>
          </a:p>
          <a:p>
            <a:pPr marL="0" lvl="0" indent="0" algn="l">
              <a:lnSpc>
                <a:spcPct val="150000"/>
              </a:lnSpc>
            </a:pPr>
            <a:r>
              <a:rPr lang="en-US" sz="2800" b="1" dirty="0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ROHAN KABADI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16264" y="4819650"/>
            <a:ext cx="287724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03"/>
              </a:lnSpc>
            </a:pPr>
            <a:r>
              <a:rPr lang="en-US" sz="1669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LIVESTOCK HEALTH TRIAGE CHATBOT FOR RURAL FARMERS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028700"/>
            <a:ext cx="8153400" cy="2247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25"/>
              </a:lnSpc>
            </a:pPr>
            <a:r>
              <a:rPr lang="en-US" sz="8625" b="1" spc="-345" dirty="0">
                <a:solidFill>
                  <a:srgbClr val="E91C1C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PROBLEM STATEMENT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430000" y="481781"/>
            <a:ext cx="6286500" cy="3962400"/>
            <a:chOff x="0" y="0"/>
            <a:chExt cx="981101" cy="6253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1101" cy="625360"/>
            </a:xfrm>
            <a:custGeom>
              <a:avLst/>
              <a:gdLst/>
              <a:ahLst/>
              <a:cxnLst/>
              <a:rect l="l" t="t" r="r" b="b"/>
              <a:pathLst>
                <a:path w="981101" h="625360">
                  <a:moveTo>
                    <a:pt x="0" y="0"/>
                  </a:moveTo>
                  <a:lnTo>
                    <a:pt x="981101" y="0"/>
                  </a:lnTo>
                  <a:lnTo>
                    <a:pt x="981101" y="625360"/>
                  </a:lnTo>
                  <a:lnTo>
                    <a:pt x="0" y="625360"/>
                  </a:lnTo>
                  <a:close/>
                </a:path>
              </a:pathLst>
            </a:custGeom>
            <a:blipFill>
              <a:blip r:embed="rId2"/>
              <a:stretch>
                <a:fillRect t="-2850" b="-2850"/>
              </a:stretch>
            </a:blipFill>
          </p:spPr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5DF4A4B-9582-7A04-95C3-6DD84F0CF15C}"/>
              </a:ext>
            </a:extLst>
          </p:cNvPr>
          <p:cNvSpPr txBox="1"/>
          <p:nvPr/>
        </p:nvSpPr>
        <p:spPr>
          <a:xfrm>
            <a:off x="1371600" y="5295900"/>
            <a:ext cx="15849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Develop a multilingual AI-powered livestock health triage chatbot that helps rural farmers identify probable animal diseases from symptoms, provides first-aid guidance, classifies case severity, and generates veterinary alert messages for timely intervention.</a:t>
            </a:r>
            <a:endParaRPr lang="en-IN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72866" y="0"/>
            <a:ext cx="4015134" cy="10287000"/>
            <a:chOff x="0" y="0"/>
            <a:chExt cx="622049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2049" cy="1593725"/>
            </a:xfrm>
            <a:custGeom>
              <a:avLst/>
              <a:gdLst/>
              <a:ahLst/>
              <a:cxnLst/>
              <a:rect l="l" t="t" r="r" b="b"/>
              <a:pathLst>
                <a:path w="622049" h="1593725">
                  <a:moveTo>
                    <a:pt x="0" y="0"/>
                  </a:moveTo>
                  <a:lnTo>
                    <a:pt x="622049" y="0"/>
                  </a:lnTo>
                  <a:lnTo>
                    <a:pt x="62204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3018" r="-2301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2639788" y="969238"/>
            <a:ext cx="442039" cy="429330"/>
          </a:xfrm>
          <a:custGeom>
            <a:avLst/>
            <a:gdLst/>
            <a:ahLst/>
            <a:cxnLst/>
            <a:rect l="l" t="t" r="r" b="b"/>
            <a:pathLst>
              <a:path w="442039" h="429330">
                <a:moveTo>
                  <a:pt x="0" y="0"/>
                </a:moveTo>
                <a:lnTo>
                  <a:pt x="442039" y="0"/>
                </a:lnTo>
                <a:lnTo>
                  <a:pt x="442039" y="429330"/>
                </a:lnTo>
                <a:lnTo>
                  <a:pt x="0" y="429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74435"/>
            <a:ext cx="8872405" cy="248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3"/>
              </a:lnSpc>
            </a:pPr>
            <a:r>
              <a:rPr lang="en-US" sz="9593" b="1" spc="-383">
                <a:solidFill>
                  <a:srgbClr val="E91C1C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PROJECT OBJECTIVES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2400" y="5982574"/>
            <a:ext cx="14355627" cy="4276158"/>
            <a:chOff x="0" y="0"/>
            <a:chExt cx="3780906" cy="11262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80906" cy="1126231"/>
            </a:xfrm>
            <a:custGeom>
              <a:avLst/>
              <a:gdLst/>
              <a:ahLst/>
              <a:cxnLst/>
              <a:rect l="l" t="t" r="r" b="b"/>
              <a:pathLst>
                <a:path w="3780906" h="1126231">
                  <a:moveTo>
                    <a:pt x="0" y="0"/>
                  </a:moveTo>
                  <a:lnTo>
                    <a:pt x="3780906" y="0"/>
                  </a:lnTo>
                  <a:lnTo>
                    <a:pt x="3780906" y="1126231"/>
                  </a:lnTo>
                  <a:lnTo>
                    <a:pt x="0" y="1126231"/>
                  </a:lnTo>
                  <a:close/>
                </a:path>
              </a:pathLst>
            </a:custGeom>
            <a:solidFill>
              <a:srgbClr val="FFFCF0"/>
            </a:solidFill>
            <a:ln w="19050" cap="sq">
              <a:solidFill>
                <a:srgbClr val="E91C1C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3780906" cy="1135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7232023"/>
            <a:ext cx="311482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MULTILINGUAL SYMPTOM REPORTING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64903" y="7232023"/>
            <a:ext cx="311482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DISEASE PREDICTION &amp; TRIAGE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210736"/>
            <a:ext cx="311482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 FARMERS TO REPORT LIVESTOCK SYMPTOMS IN THEIR NATIVE LANGUAGE THROUGH VOICE OR TEXT INPUT FOR ACCESSIBLE HEALTHCARE.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64903" y="8210736"/>
            <a:ext cx="311482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AI-POWERED DISEASE IDENTIFICATION WITH URGENCY CLASSIFICATION TO PRIORITIZE CASES AS SELF-TREATABLE, URGENT, OR CRITICAL.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01105" y="7232023"/>
            <a:ext cx="311482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FIRST-AID &amp; VET ALERTS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01105" y="8210736"/>
            <a:ext cx="311482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PROVIDE IMMEDIATE FIRST-AID GUIDANCE AND AUTOMATICALLY GENERATE SMS ALERTS TO NEARBY VETERINARIANS FOR TIMELY INTERVENTION.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7487" y="5133975"/>
            <a:ext cx="287724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8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PASHUMITRA 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8506" y="5133975"/>
            <a:ext cx="840742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2098" b="1" u="none" strike="noStrike" dirty="0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CLEAR GOALS DRIVING LIVESTOCK HEALTH 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Pashumitra AI system architecture diagram">
            <a:extLst>
              <a:ext uri="{FF2B5EF4-FFF2-40B4-BE49-F238E27FC236}">
                <a16:creationId xmlns:a16="http://schemas.microsoft.com/office/drawing/2014/main" id="{E22D6545-A2A2-D0AC-BAD0-AD15B0A1EA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7F3B9-3E09-7645-184C-9D0638063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4300"/>
            <a:ext cx="17678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8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74435"/>
            <a:ext cx="16230600" cy="127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3"/>
              </a:lnSpc>
            </a:pPr>
            <a:r>
              <a:rPr lang="en-US" sz="9593" b="1" spc="-383">
                <a:solidFill>
                  <a:srgbClr val="E91C1C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TECHNOLOGY STACK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39877" y="4589024"/>
            <a:ext cx="4349500" cy="2560896"/>
            <a:chOff x="0" y="0"/>
            <a:chExt cx="1062130" cy="6253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2130" cy="625360"/>
            </a:xfrm>
            <a:custGeom>
              <a:avLst/>
              <a:gdLst/>
              <a:ahLst/>
              <a:cxnLst/>
              <a:rect l="l" t="t" r="r" b="b"/>
              <a:pathLst>
                <a:path w="1062130" h="625360">
                  <a:moveTo>
                    <a:pt x="0" y="0"/>
                  </a:moveTo>
                  <a:lnTo>
                    <a:pt x="1062130" y="0"/>
                  </a:lnTo>
                  <a:lnTo>
                    <a:pt x="1062130" y="625360"/>
                  </a:lnTo>
                  <a:lnTo>
                    <a:pt x="0" y="625360"/>
                  </a:lnTo>
                  <a:close/>
                </a:path>
              </a:pathLst>
            </a:custGeom>
            <a:blipFill>
              <a:blip r:embed="rId2"/>
              <a:stretch>
                <a:fillRect l="-1647" r="-1647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969250" y="4007082"/>
            <a:ext cx="4349500" cy="2560896"/>
            <a:chOff x="0" y="0"/>
            <a:chExt cx="1062130" cy="625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2130" cy="625360"/>
            </a:xfrm>
            <a:custGeom>
              <a:avLst/>
              <a:gdLst/>
              <a:ahLst/>
              <a:cxnLst/>
              <a:rect l="l" t="t" r="r" b="b"/>
              <a:pathLst>
                <a:path w="1062130" h="625360">
                  <a:moveTo>
                    <a:pt x="0" y="0"/>
                  </a:moveTo>
                  <a:lnTo>
                    <a:pt x="1062130" y="0"/>
                  </a:lnTo>
                  <a:lnTo>
                    <a:pt x="1062130" y="625360"/>
                  </a:lnTo>
                  <a:lnTo>
                    <a:pt x="0" y="625360"/>
                  </a:lnTo>
                  <a:close/>
                </a:path>
              </a:pathLst>
            </a:custGeom>
            <a:blipFill>
              <a:blip r:embed="rId3"/>
              <a:stretch>
                <a:fillRect l="-1647" r="-164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50650" y="7814151"/>
            <a:ext cx="4238727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0"/>
              </a:lnSpc>
            </a:pPr>
            <a:r>
              <a:rPr lang="en-US" sz="1450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 LAYER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0023" y="7232208"/>
            <a:ext cx="4238727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0"/>
              </a:lnSpc>
            </a:pPr>
            <a:r>
              <a:rPr lang="en-US" sz="1450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BACKEND SERVICES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9877" y="8420249"/>
            <a:ext cx="434950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NEXT.JS 15 AND REACT 19 POWER THE RESPONSIVE USER INTERFACE FOR FARMERS.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69250" y="7838306"/>
            <a:ext cx="434950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FASTAPI WITH PYTHON ENABLES FAST, RELIABLE API ENDPOINTS FOR CHATBOT SERVICES.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898623" y="3425139"/>
            <a:ext cx="4349500" cy="2560896"/>
            <a:chOff x="0" y="0"/>
            <a:chExt cx="1062130" cy="62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2130" cy="625360"/>
            </a:xfrm>
            <a:custGeom>
              <a:avLst/>
              <a:gdLst/>
              <a:ahLst/>
              <a:cxnLst/>
              <a:rect l="l" t="t" r="r" b="b"/>
              <a:pathLst>
                <a:path w="1062130" h="625360">
                  <a:moveTo>
                    <a:pt x="0" y="0"/>
                  </a:moveTo>
                  <a:lnTo>
                    <a:pt x="1062130" y="0"/>
                  </a:lnTo>
                  <a:lnTo>
                    <a:pt x="1062130" y="625360"/>
                  </a:lnTo>
                  <a:lnTo>
                    <a:pt x="0" y="625360"/>
                  </a:lnTo>
                  <a:close/>
                </a:path>
              </a:pathLst>
            </a:custGeom>
            <a:blipFill>
              <a:blip r:embed="rId4"/>
              <a:stretch>
                <a:fillRect l="-1647" r="-1647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3009397" y="6650266"/>
            <a:ext cx="4238727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40"/>
              </a:lnSpc>
            </a:pPr>
            <a:r>
              <a:rPr lang="en-US" sz="1450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&amp; VOICE PROCESSING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98623" y="7256364"/>
            <a:ext cx="434950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GROQ API WITH LLAMA MODELS FOR DIAGNOSIS, FASTER-WHISPER FOR VOICE INPUT, AND TRANSLATION SERVICES.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92794" y="8943975"/>
            <a:ext cx="4055329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030"/>
              </a:lnSpc>
              <a:spcBef>
                <a:spcPct val="0"/>
              </a:spcBef>
            </a:pPr>
            <a:r>
              <a:rPr lang="en-US" sz="1691" b="1" u="none" strike="noStrike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PASHUMITRA 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70014" y="3762612"/>
            <a:ext cx="293387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0"/>
              </a:lnSpc>
            </a:pPr>
            <a:r>
              <a:rPr lang="en-US" sz="1691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LAYERED ARCHITECTURE FOR SCALABLE LIVESTOCK HEALTH TRIAGE</a:t>
            </a:r>
          </a:p>
        </p:txBody>
      </p:sp>
      <p:sp>
        <p:nvSpPr>
          <p:cNvPr id="17" name="Freeform 17"/>
          <p:cNvSpPr/>
          <p:nvPr/>
        </p:nvSpPr>
        <p:spPr>
          <a:xfrm flipV="1">
            <a:off x="1028700" y="3258199"/>
            <a:ext cx="429164" cy="429164"/>
          </a:xfrm>
          <a:custGeom>
            <a:avLst/>
            <a:gdLst/>
            <a:ahLst/>
            <a:cxnLst/>
            <a:rect l="l" t="t" r="r" b="b"/>
            <a:pathLst>
              <a:path w="429164" h="429164">
                <a:moveTo>
                  <a:pt x="0" y="429163"/>
                </a:moveTo>
                <a:lnTo>
                  <a:pt x="429164" y="429163"/>
                </a:lnTo>
                <a:lnTo>
                  <a:pt x="429164" y="0"/>
                </a:lnTo>
                <a:lnTo>
                  <a:pt x="0" y="0"/>
                </a:lnTo>
                <a:lnTo>
                  <a:pt x="0" y="42916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12368" y="1064910"/>
            <a:ext cx="6746932" cy="244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2"/>
              </a:lnSpc>
            </a:pPr>
            <a:r>
              <a:rPr lang="en-US" sz="9442" b="1" spc="-377">
                <a:solidFill>
                  <a:srgbClr val="E91C1C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DATASET SOURCES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512368" y="4509149"/>
            <a:ext cx="6746932" cy="4749151"/>
            <a:chOff x="0" y="0"/>
            <a:chExt cx="1025387" cy="7217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5387" cy="721768"/>
            </a:xfrm>
            <a:custGeom>
              <a:avLst/>
              <a:gdLst/>
              <a:ahLst/>
              <a:cxnLst/>
              <a:rect l="l" t="t" r="r" b="b"/>
              <a:pathLst>
                <a:path w="1025387" h="721768">
                  <a:moveTo>
                    <a:pt x="0" y="0"/>
                  </a:moveTo>
                  <a:lnTo>
                    <a:pt x="1025387" y="0"/>
                  </a:lnTo>
                  <a:lnTo>
                    <a:pt x="1025387" y="721768"/>
                  </a:lnTo>
                  <a:lnTo>
                    <a:pt x="0" y="721768"/>
                  </a:lnTo>
                  <a:close/>
                </a:path>
              </a:pathLst>
            </a:custGeom>
            <a:blipFill>
              <a:blip r:embed="rId2"/>
              <a:stretch>
                <a:fillRect l="-2237" r="-2237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0"/>
            <a:ext cx="5356847" cy="2679174"/>
            <a:chOff x="0" y="0"/>
            <a:chExt cx="814125" cy="4071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125" cy="407176"/>
            </a:xfrm>
            <a:custGeom>
              <a:avLst/>
              <a:gdLst/>
              <a:ahLst/>
              <a:cxnLst/>
              <a:rect l="l" t="t" r="r" b="b"/>
              <a:pathLst>
                <a:path w="814125" h="407176">
                  <a:moveTo>
                    <a:pt x="0" y="0"/>
                  </a:moveTo>
                  <a:lnTo>
                    <a:pt x="814125" y="0"/>
                  </a:lnTo>
                  <a:lnTo>
                    <a:pt x="814125" y="407176"/>
                  </a:lnTo>
                  <a:lnTo>
                    <a:pt x="0" y="407176"/>
                  </a:lnTo>
                  <a:close/>
                </a:path>
              </a:pathLst>
            </a:custGeom>
            <a:blipFill>
              <a:blip r:embed="rId3"/>
              <a:stretch>
                <a:fillRect t="-6984" b="-6984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341632" y="1596442"/>
            <a:ext cx="2518407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2098" b="1" u="none" strike="noStrike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POWERING ACCURATE LIVESTOCK DIAGNOSIS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287905"/>
            <a:ext cx="295502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NADIS DATABASE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354077"/>
            <a:ext cx="295502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ICAR-NIVEDI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22885" y="4287905"/>
            <a:ext cx="333715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COMPREHENSIVE UK LIVESTOCK DISEASE DATABASE PROVIDING DETAILED SYMPTOM PROFILES AND TREATMENT PROTOCOLS FOR CATTLE, SHEEP, AND PIGS.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22885" y="6354077"/>
            <a:ext cx="333715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INDIAN COUNCIL OF AGRICULTURAL RESEARCH DISEASE SURVEILLANCE DATA COVERING REGIONAL LIVESTOCK HEALTH PATTERNS AND OUTBREAK MONITORING.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28700" y="5695602"/>
            <a:ext cx="6831339" cy="0"/>
          </a:xfrm>
          <a:prstGeom prst="line">
            <a:avLst/>
          </a:prstGeom>
          <a:ln w="19050" cap="flat">
            <a:solidFill>
              <a:srgbClr val="E91C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28700" y="7761774"/>
            <a:ext cx="6831339" cy="0"/>
          </a:xfrm>
          <a:prstGeom prst="line">
            <a:avLst/>
          </a:prstGeom>
          <a:ln w="19050" cap="flat">
            <a:solidFill>
              <a:srgbClr val="E91C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028700" y="8420249"/>
            <a:ext cx="295502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FAO EMPRES-I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2885" y="8420249"/>
            <a:ext cx="333715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GLOBAL ANIMAL DISEASE INFORMATION SYSTEM TRACKING TRANSBOUNDARY DISEASE EVENTS AND EARLY WARNING ALERTS.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78796" y="5773052"/>
            <a:ext cx="246714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8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VETCOMPASS CLINICAL DATA</a:t>
            </a:r>
          </a:p>
        </p:txBody>
      </p:sp>
      <p:sp>
        <p:nvSpPr>
          <p:cNvPr id="17" name="Freeform 17"/>
          <p:cNvSpPr/>
          <p:nvPr/>
        </p:nvSpPr>
        <p:spPr>
          <a:xfrm flipV="1">
            <a:off x="8714836" y="1028700"/>
            <a:ext cx="429164" cy="429164"/>
          </a:xfrm>
          <a:custGeom>
            <a:avLst/>
            <a:gdLst/>
            <a:ahLst/>
            <a:cxnLst/>
            <a:rect l="l" t="t" r="r" b="b"/>
            <a:pathLst>
              <a:path w="429164" h="429164">
                <a:moveTo>
                  <a:pt x="0" y="429164"/>
                </a:moveTo>
                <a:lnTo>
                  <a:pt x="429164" y="429164"/>
                </a:lnTo>
                <a:lnTo>
                  <a:pt x="429164" y="0"/>
                </a:lnTo>
                <a:lnTo>
                  <a:pt x="0" y="0"/>
                </a:lnTo>
                <a:lnTo>
                  <a:pt x="0" y="4291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36994" y="6756961"/>
            <a:ext cx="7622306" cy="248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3"/>
              </a:lnSpc>
            </a:pPr>
            <a:r>
              <a:rPr lang="en-US" sz="9593" b="1" spc="-383">
                <a:solidFill>
                  <a:srgbClr val="E91C1C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CORE 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636994" y="1028700"/>
            <a:ext cx="7622306" cy="4858511"/>
            <a:chOff x="0" y="0"/>
            <a:chExt cx="981101" cy="6253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1101" cy="625360"/>
            </a:xfrm>
            <a:custGeom>
              <a:avLst/>
              <a:gdLst/>
              <a:ahLst/>
              <a:cxnLst/>
              <a:rect l="l" t="t" r="r" b="b"/>
              <a:pathLst>
                <a:path w="981101" h="625360">
                  <a:moveTo>
                    <a:pt x="0" y="0"/>
                  </a:moveTo>
                  <a:lnTo>
                    <a:pt x="981101" y="0"/>
                  </a:lnTo>
                  <a:lnTo>
                    <a:pt x="981101" y="625360"/>
                  </a:lnTo>
                  <a:lnTo>
                    <a:pt x="0" y="625360"/>
                  </a:lnTo>
                  <a:close/>
                </a:path>
              </a:pathLst>
            </a:custGeom>
            <a:blipFill>
              <a:blip r:embed="rId2"/>
              <a:stretch>
                <a:fillRect t="-2850" b="-2850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28700" y="1019175"/>
            <a:ext cx="4838611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2098" b="1" u="none" strike="noStrike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CAPABILITIES OF PASHUMITRA AI CHATBOT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732659"/>
            <a:ext cx="26617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SYMPTOM EXTRACTION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698360"/>
            <a:ext cx="266171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DISEASE PREDICTION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35436" y="2732659"/>
            <a:ext cx="391347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2"/>
              </a:lnSpc>
            </a:pPr>
            <a:r>
              <a:rPr lang="en-US" sz="1377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AI-POWERED NATURAL LANGUAGE PROCESSING IDENTIFIES AND EXTRACTS LIVESTOCK SYMPTOMS FROM FARMER CONVERSATIONS IN REAL-TIME.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35436" y="4698360"/>
            <a:ext cx="391347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2"/>
              </a:lnSpc>
            </a:pPr>
            <a:r>
              <a:rPr lang="en-US" sz="1377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MACHINE LEARNING ALGORITHMS ANALYZE SYMPTOMS AGAINST COMPREHENSIVE DISEASE DATABASES TO PREDICT POTENTIAL CONDITIONS ACCURATELY.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28700" y="4031610"/>
            <a:ext cx="7120210" cy="0"/>
          </a:xfrm>
          <a:prstGeom prst="line">
            <a:avLst/>
          </a:prstGeom>
          <a:ln w="19050" cap="flat">
            <a:solidFill>
              <a:srgbClr val="E91C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028700" y="5997311"/>
            <a:ext cx="7120210" cy="0"/>
          </a:xfrm>
          <a:prstGeom prst="line">
            <a:avLst/>
          </a:prstGeom>
          <a:ln w="19050" cap="flat">
            <a:solidFill>
              <a:srgbClr val="E91C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028700" y="6664061"/>
            <a:ext cx="26617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CONFIDENCE SCORING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35436" y="6664061"/>
            <a:ext cx="391347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2"/>
              </a:lnSpc>
            </a:pPr>
            <a:r>
              <a:rPr lang="en-US" sz="1377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EACH DIAGNOSIS INCLUDES RELIABILITY SCORES HELPING FARMERS AND VETS UNDERSTAND PREDICTION CERTAINTY LEVELS.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7963012"/>
            <a:ext cx="7120210" cy="0"/>
          </a:xfrm>
          <a:prstGeom prst="line">
            <a:avLst/>
          </a:prstGeom>
          <a:ln w="19050" cap="flat">
            <a:solidFill>
              <a:srgbClr val="E91C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8629762"/>
            <a:ext cx="26617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MULTILINGUAL &amp; SMS ALERTS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35436" y="8629762"/>
            <a:ext cx="3913474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2"/>
              </a:lnSpc>
            </a:pPr>
            <a:r>
              <a:rPr lang="en-US" sz="1377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KANNADA LANGUAGE SUPPORT WITH AUTOMATIC SMS ALERTS TO VETERINARIANS FOR URGENT CASES.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88578" y="4479211"/>
            <a:ext cx="287724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8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PASHUMITRA AI</a:t>
            </a:r>
          </a:p>
        </p:txBody>
      </p:sp>
      <p:sp>
        <p:nvSpPr>
          <p:cNvPr id="18" name="Freeform 18"/>
          <p:cNvSpPr/>
          <p:nvPr/>
        </p:nvSpPr>
        <p:spPr>
          <a:xfrm flipV="1">
            <a:off x="7934328" y="1028700"/>
            <a:ext cx="429164" cy="429164"/>
          </a:xfrm>
          <a:custGeom>
            <a:avLst/>
            <a:gdLst/>
            <a:ahLst/>
            <a:cxnLst/>
            <a:rect l="l" t="t" r="r" b="b"/>
            <a:pathLst>
              <a:path w="429164" h="429164">
                <a:moveTo>
                  <a:pt x="0" y="429164"/>
                </a:moveTo>
                <a:lnTo>
                  <a:pt x="429164" y="429164"/>
                </a:lnTo>
                <a:lnTo>
                  <a:pt x="429164" y="0"/>
                </a:lnTo>
                <a:lnTo>
                  <a:pt x="0" y="0"/>
                </a:lnTo>
                <a:lnTo>
                  <a:pt x="0" y="4291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12368" y="1007760"/>
            <a:ext cx="7470832" cy="2506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450"/>
              </a:lnSpc>
            </a:pPr>
            <a:r>
              <a:rPr lang="en-US" sz="6450" b="1" spc="-258" dirty="0">
                <a:solidFill>
                  <a:srgbClr val="E91C1C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MULTILINGUAL &amp; VOICE SUPPORT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512368" y="4509149"/>
            <a:ext cx="6746932" cy="4749151"/>
            <a:chOff x="0" y="0"/>
            <a:chExt cx="1025387" cy="7217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5387" cy="721768"/>
            </a:xfrm>
            <a:custGeom>
              <a:avLst/>
              <a:gdLst/>
              <a:ahLst/>
              <a:cxnLst/>
              <a:rect l="l" t="t" r="r" b="b"/>
              <a:pathLst>
                <a:path w="1025387" h="721768">
                  <a:moveTo>
                    <a:pt x="0" y="0"/>
                  </a:moveTo>
                  <a:lnTo>
                    <a:pt x="1025387" y="0"/>
                  </a:lnTo>
                  <a:lnTo>
                    <a:pt x="1025387" y="721768"/>
                  </a:lnTo>
                  <a:lnTo>
                    <a:pt x="0" y="721768"/>
                  </a:lnTo>
                  <a:close/>
                </a:path>
              </a:pathLst>
            </a:custGeom>
            <a:blipFill>
              <a:blip r:embed="rId2"/>
              <a:stretch>
                <a:fillRect l="-2237" r="-2237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0"/>
            <a:ext cx="5356847" cy="2679174"/>
            <a:chOff x="0" y="0"/>
            <a:chExt cx="814125" cy="4071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125" cy="407176"/>
            </a:xfrm>
            <a:custGeom>
              <a:avLst/>
              <a:gdLst/>
              <a:ahLst/>
              <a:cxnLst/>
              <a:rect l="l" t="t" r="r" b="b"/>
              <a:pathLst>
                <a:path w="814125" h="407176">
                  <a:moveTo>
                    <a:pt x="0" y="0"/>
                  </a:moveTo>
                  <a:lnTo>
                    <a:pt x="814125" y="0"/>
                  </a:lnTo>
                  <a:lnTo>
                    <a:pt x="814125" y="407176"/>
                  </a:lnTo>
                  <a:lnTo>
                    <a:pt x="0" y="407176"/>
                  </a:lnTo>
                  <a:close/>
                </a:path>
              </a:pathLst>
            </a:custGeom>
            <a:blipFill>
              <a:blip r:embed="rId3"/>
              <a:stretch>
                <a:fillRect t="-6984" b="-698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4287905"/>
            <a:ext cx="295502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 dirty="0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KANNADA SUPPORT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354077"/>
            <a:ext cx="295502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VOICE RECOGNITION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22885" y="4287905"/>
            <a:ext cx="3337154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FULL KANNADA LANGUAGE SUPPORT WITH REAL-TIME TRANSLATION SERVICES FOR SEAMLESS FARMER COMMUNICATION.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22885" y="6354077"/>
            <a:ext cx="3337154" cy="64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 dirty="0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VOICE-TO-TEXT TRANSCRIPTION POWERED BY SARVAM API ENABLES HANDS-FREE SYMPTOM REPORTING.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28700" y="5695602"/>
            <a:ext cx="6831339" cy="0"/>
          </a:xfrm>
          <a:prstGeom prst="line">
            <a:avLst/>
          </a:prstGeom>
          <a:ln w="19050" cap="flat">
            <a:solidFill>
              <a:srgbClr val="E91C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028700" y="7761774"/>
            <a:ext cx="6831339" cy="0"/>
          </a:xfrm>
          <a:prstGeom prst="line">
            <a:avLst/>
          </a:prstGeom>
          <a:ln w="19050" cap="flat">
            <a:solidFill>
              <a:srgbClr val="E91C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028700" y="8420249"/>
            <a:ext cx="295502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1798" b="1">
                <a:solidFill>
                  <a:srgbClr val="1A232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CONVERSATIONAL UI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2885" y="8420249"/>
            <a:ext cx="3337154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8"/>
              </a:lnSpc>
            </a:pPr>
            <a:r>
              <a:rPr lang="en-US" sz="1399" b="1">
                <a:solidFill>
                  <a:srgbClr val="1A23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FARMER-FRIENDLY CHAT INTERFACE DESIGNED FOR EASE OF USE WITH MINIMAL TECHNICAL KNOWLEDGE REQUIRED.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78796" y="5773052"/>
            <a:ext cx="246714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098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PASHUMITRA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153665"/>
            <a:ext cx="16230600" cy="3503817"/>
            <a:chOff x="0" y="0"/>
            <a:chExt cx="2514545" cy="5428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4545" cy="542833"/>
            </a:xfrm>
            <a:custGeom>
              <a:avLst/>
              <a:gdLst/>
              <a:ahLst/>
              <a:cxnLst/>
              <a:rect l="l" t="t" r="r" b="b"/>
              <a:pathLst>
                <a:path w="2514545" h="542833">
                  <a:moveTo>
                    <a:pt x="0" y="0"/>
                  </a:moveTo>
                  <a:lnTo>
                    <a:pt x="2514545" y="0"/>
                  </a:lnTo>
                  <a:lnTo>
                    <a:pt x="2514545" y="542833"/>
                  </a:lnTo>
                  <a:lnTo>
                    <a:pt x="0" y="542833"/>
                  </a:lnTo>
                  <a:close/>
                </a:path>
              </a:pathLst>
            </a:custGeom>
            <a:blipFill>
              <a:blip r:embed="rId2"/>
              <a:stretch>
                <a:fillRect t="-82019" b="-82019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064910"/>
            <a:ext cx="13736736" cy="129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b="1" spc="-384">
                <a:solidFill>
                  <a:srgbClr val="E91C1C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THANK YOU!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12911" y="3996502"/>
            <a:ext cx="3671826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</a:pPr>
            <a:r>
              <a:rPr lang="en-US" sz="1400" b="1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QUESTIONS WELCOME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5400" y="7215030"/>
            <a:ext cx="7586807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</a:pPr>
            <a:r>
              <a:rPr lang="en-US" sz="1400" b="1" dirty="0">
                <a:solidFill>
                  <a:srgbClr val="FFFCF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PASHUMITRA AI – EMPOWERING RURAL FARMERS WITH AI-DRIVEN LIVESTOCK HEALTHCARE.</a:t>
            </a:r>
          </a:p>
        </p:txBody>
      </p:sp>
      <p:sp>
        <p:nvSpPr>
          <p:cNvPr id="15" name="Freeform 15"/>
          <p:cNvSpPr/>
          <p:nvPr/>
        </p:nvSpPr>
        <p:spPr>
          <a:xfrm flipH="1" flipV="1">
            <a:off x="16830136" y="1028700"/>
            <a:ext cx="429164" cy="429164"/>
          </a:xfrm>
          <a:custGeom>
            <a:avLst/>
            <a:gdLst/>
            <a:ahLst/>
            <a:cxnLst/>
            <a:rect l="l" t="t" r="r" b="b"/>
            <a:pathLst>
              <a:path w="429164" h="429164">
                <a:moveTo>
                  <a:pt x="429164" y="429164"/>
                </a:moveTo>
                <a:lnTo>
                  <a:pt x="0" y="429164"/>
                </a:lnTo>
                <a:lnTo>
                  <a:pt x="0" y="0"/>
                </a:lnTo>
                <a:lnTo>
                  <a:pt x="429164" y="0"/>
                </a:lnTo>
                <a:lnTo>
                  <a:pt x="429164" y="4291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404</Words>
  <Application>Microsoft Office PowerPoint</Application>
  <PresentationFormat>Custom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Cy Grotesk Wide Bold</vt:lpstr>
      <vt:lpstr>Open Sauce Bold</vt:lpstr>
      <vt:lpstr>Arial</vt:lpstr>
      <vt:lpstr>Open Sauce Heavy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PashuMitra AI: Livestock Health Triage</dc:title>
  <dc:creator>Sanjana Shetti</dc:creator>
  <cp:lastModifiedBy>Sanjana Shetti</cp:lastModifiedBy>
  <cp:revision>17</cp:revision>
  <dcterms:created xsi:type="dcterms:W3CDTF">2006-08-16T00:00:00Z</dcterms:created>
  <dcterms:modified xsi:type="dcterms:W3CDTF">2026-05-31T08:30:26Z</dcterms:modified>
  <dc:identifier>DAHLL5unaXo</dc:identifier>
</cp:coreProperties>
</file>